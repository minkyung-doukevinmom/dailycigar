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9D054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C3D039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D0398B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3"/>
            <c:bubble3D val="0"/>
            <c:spPr>
              <a:solidFill>
                <a:srgbClr val="1B38BB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4"/>
            <c:bubble3D val="0"/>
            <c:spPr>
              <a:solidFill>
                <a:srgbClr val="D03939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5"/>
            <c:bubble3D val="0"/>
            <c:spPr>
              <a:solidFill>
                <a:srgbClr val="7039D0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6"/>
            <c:bubble3D val="0"/>
            <c:spPr>
              <a:solidFill>
                <a:srgbClr val="55BB1B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7"/>
            <c:bubble3D val="0"/>
            <c:spPr>
              <a:solidFill>
                <a:srgbClr val="BB721B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8"/>
            <c:bubble3D val="0"/>
            <c:spPr>
              <a:solidFill>
                <a:srgbClr val="39A7D0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9"/>
            <c:bubble3D val="0"/>
            <c:spPr>
              <a:solidFill>
                <a:srgbClr val="AD1BBB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0"/>
            <c:bubble3D val="0"/>
            <c:spPr>
              <a:solidFill>
                <a:srgbClr val="B0B0B0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1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1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1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1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1"/>
              <c:showSerName val="0"/>
              <c:showPercent val="0"/>
              <c:showBubbleSize val="0"/>
            </c:dLbl>
            <c:dLbl>
              <c:idx val="5"/>
              <c:numFmt formatCode="General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1"/>
              <c:showSerName val="0"/>
              <c:showPercent val="0"/>
              <c:showBubbleSize val="0"/>
            </c:dLbl>
            <c:dLbl>
              <c:idx val="6"/>
              <c:numFmt formatCode="General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1"/>
              <c:showSerName val="0"/>
              <c:showPercent val="0"/>
              <c:showBubbleSize val="0"/>
            </c:dLbl>
            <c:dLbl>
              <c:idx val="7"/>
              <c:numFmt formatCode="General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1"/>
              <c:showSerName val="0"/>
              <c:showPercent val="0"/>
              <c:showBubbleSize val="0"/>
            </c:dLbl>
            <c:dLbl>
              <c:idx val="8"/>
              <c:numFmt formatCode="General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1"/>
              <c:showSerName val="0"/>
              <c:showPercent val="0"/>
              <c:showBubbleSize val="0"/>
            </c:dLbl>
            <c:dLbl>
              <c:idx val="9"/>
              <c:numFmt formatCode="General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1"/>
              <c:showSerName val="0"/>
              <c:showPercent val="0"/>
              <c:showBubbleSize val="0"/>
            </c:dLbl>
            <c:dLbl>
              <c:idx val="10"/>
              <c:numFmt formatCode="General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1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Sheet1!$A$2:$A$12</c:f>
              <c:strCache>
                <c:ptCount val="11"/>
                <c:pt idx="0">
                  <c:v>DJUA(R)
1,566만</c:v>
                </c:pt>
                <c:pt idx="1">
                  <c:v>ALH(R)
1,347만</c:v>
                </c:pt>
                <c:pt idx="2">
                  <c:v>TABFF(PURITOS)
1,037만</c:v>
                </c:pt>
                <c:pt idx="3">
                  <c:v>TAB(R)
1,022만</c:v>
                </c:pt>
                <c:pt idx="4">
                  <c:v>1881(C)
992만</c:v>
                </c:pt>
                <c:pt idx="5">
                  <c:v>TABE(R)
668만</c:v>
                </c:pt>
                <c:pt idx="6">
                  <c:v>DJUA(C)
622만</c:v>
                </c:pt>
                <c:pt idx="7">
                  <c:v>ALH(C)
509만</c:v>
                </c:pt>
                <c:pt idx="8">
                  <c:v>TAB(HC)
361만</c:v>
                </c:pt>
                <c:pt idx="9">
                  <c:v>TABFF(CHOCO)
340만</c:v>
                </c:pt>
                <c:pt idx="10">
                  <c:v>기타
3,078만</c:v>
                </c:pt>
              </c:strCache>
            </c:strRef>
          </c:cat>
          <c:val>
            <c:numRef>
              <c:f>Sheet1!$B$2:$B$12</c:f>
              <c:numCache>
                <c:ptCount val="11"/>
                <c:pt idx="0">
                  <c:v>15656595</c:v>
                </c:pt>
                <c:pt idx="1">
                  <c:v>13472405</c:v>
                </c:pt>
                <c:pt idx="2">
                  <c:v>10374000</c:v>
                </c:pt>
                <c:pt idx="3">
                  <c:v>10220133</c:v>
                </c:pt>
                <c:pt idx="4">
                  <c:v>9917410</c:v>
                </c:pt>
                <c:pt idx="5">
                  <c:v>6678953</c:v>
                </c:pt>
                <c:pt idx="6">
                  <c:v>6222246</c:v>
                </c:pt>
                <c:pt idx="7">
                  <c:v>5092913</c:v>
                </c:pt>
                <c:pt idx="8">
                  <c:v>3614877</c:v>
                </c:pt>
                <c:pt idx="9">
                  <c:v>3395476</c:v>
                </c:pt>
                <c:pt idx="10">
                  <c:v>30781692</c:v>
                </c:pt>
              </c:numCache>
            </c:numRef>
          </c:val>
        </c:ser>
        <c:firstSliceAng val="0"/>
        <c:holeSize val="45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이익금액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9D054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C3D039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D03939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3"/>
            <c:bubble3D val="0"/>
            <c:spPr>
              <a:solidFill>
                <a:srgbClr val="D0398B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4"/>
            <c:bubble3D val="0"/>
            <c:spPr>
              <a:solidFill>
                <a:srgbClr val="1B38BB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5"/>
            <c:bubble3D val="0"/>
            <c:spPr>
              <a:solidFill>
                <a:srgbClr val="7039D0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6"/>
            <c:bubble3D val="0"/>
            <c:spPr>
              <a:solidFill>
                <a:srgbClr val="55BB1B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7"/>
            <c:bubble3D val="0"/>
            <c:spPr>
              <a:solidFill>
                <a:srgbClr val="BB721B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8"/>
            <c:bubble3D val="0"/>
            <c:spPr>
              <a:solidFill>
                <a:srgbClr val="1BBB90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9"/>
            <c:bubble3D val="0"/>
            <c:spPr>
              <a:solidFill>
                <a:srgbClr val="39A7D0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0"/>
            <c:bubble3D val="0"/>
            <c:spPr>
              <a:solidFill>
                <a:srgbClr val="B0B0B0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1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1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1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1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1"/>
              <c:showSerName val="0"/>
              <c:showPercent val="0"/>
              <c:showBubbleSize val="0"/>
            </c:dLbl>
            <c:dLbl>
              <c:idx val="5"/>
              <c:numFmt formatCode="General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1"/>
              <c:showSerName val="0"/>
              <c:showPercent val="0"/>
              <c:showBubbleSize val="0"/>
            </c:dLbl>
            <c:dLbl>
              <c:idx val="6"/>
              <c:numFmt formatCode="General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1"/>
              <c:showSerName val="0"/>
              <c:showPercent val="0"/>
              <c:showBubbleSize val="0"/>
            </c:dLbl>
            <c:dLbl>
              <c:idx val="7"/>
              <c:numFmt formatCode="General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1"/>
              <c:showSerName val="0"/>
              <c:showPercent val="0"/>
              <c:showBubbleSize val="0"/>
            </c:dLbl>
            <c:dLbl>
              <c:idx val="8"/>
              <c:numFmt formatCode="General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1"/>
              <c:showSerName val="0"/>
              <c:showPercent val="0"/>
              <c:showBubbleSize val="0"/>
            </c:dLbl>
            <c:dLbl>
              <c:idx val="9"/>
              <c:numFmt formatCode="General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1"/>
              <c:showSerName val="0"/>
              <c:showPercent val="0"/>
              <c:showBubbleSize val="0"/>
            </c:dLbl>
            <c:dLbl>
              <c:idx val="10"/>
              <c:numFmt formatCode="General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1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Sheet1!$A$2:$A$12</c:f>
              <c:strCache>
                <c:ptCount val="11"/>
                <c:pt idx="0">
                  <c:v>DJUA(R)
947만</c:v>
                </c:pt>
                <c:pt idx="1">
                  <c:v>ALH(R)
711만</c:v>
                </c:pt>
                <c:pt idx="2">
                  <c:v>1881(C)
630만</c:v>
                </c:pt>
                <c:pt idx="3">
                  <c:v>TABFF(PURITOS)
522만</c:v>
                </c:pt>
                <c:pt idx="4">
                  <c:v>TAB(R)
487만</c:v>
                </c:pt>
                <c:pt idx="5">
                  <c:v>TABE(R)
433만</c:v>
                </c:pt>
                <c:pt idx="6">
                  <c:v>DJUA(C)
371만</c:v>
                </c:pt>
                <c:pt idx="7">
                  <c:v>ALH(C)
323만</c:v>
                </c:pt>
                <c:pt idx="8">
                  <c:v>DJUA(T)
208만</c:v>
                </c:pt>
                <c:pt idx="9">
                  <c:v>TAB(HC)
183만</c:v>
                </c:pt>
                <c:pt idx="10">
                  <c:v>기타
1,662만</c:v>
                </c:pt>
              </c:strCache>
            </c:strRef>
          </c:cat>
          <c:val>
            <c:numRef>
              <c:f>Sheet1!$B$2:$B$12</c:f>
              <c:numCache>
                <c:ptCount val="11"/>
                <c:pt idx="0">
                  <c:v>9469380</c:v>
                </c:pt>
                <c:pt idx="1">
                  <c:v>7114904</c:v>
                </c:pt>
                <c:pt idx="2">
                  <c:v>6303567</c:v>
                </c:pt>
                <c:pt idx="3">
                  <c:v>5218058</c:v>
                </c:pt>
                <c:pt idx="4">
                  <c:v>4865051</c:v>
                </c:pt>
                <c:pt idx="5">
                  <c:v>4331614</c:v>
                </c:pt>
                <c:pt idx="6">
                  <c:v>3711156</c:v>
                </c:pt>
                <c:pt idx="7">
                  <c:v>3228932</c:v>
                </c:pt>
                <c:pt idx="8">
                  <c:v>2077193</c:v>
                </c:pt>
                <c:pt idx="9">
                  <c:v>1831424</c:v>
                </c:pt>
                <c:pt idx="10">
                  <c:v>16622684</c:v>
                </c:pt>
              </c:numCache>
            </c:numRef>
          </c:val>
        </c:ser>
        <c:firstSliceAng val="0"/>
        <c:holeSize val="45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판매수량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3D039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1B38BB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39A7D0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3"/>
            <c:bubble3D val="0"/>
            <c:spPr>
              <a:solidFill>
                <a:srgbClr val="39D054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4"/>
            <c:bubble3D val="0"/>
            <c:spPr>
              <a:solidFill>
                <a:srgbClr val="D03939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5"/>
            <c:bubble3D val="0"/>
            <c:spPr>
              <a:solidFill>
                <a:srgbClr val="D0398B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6"/>
            <c:bubble3D val="0"/>
            <c:spPr>
              <a:solidFill>
                <a:srgbClr val="BB721B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7"/>
            <c:bubble3D val="0"/>
            <c:spPr>
              <a:solidFill>
                <a:srgbClr val="55BB1B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8"/>
            <c:bubble3D val="0"/>
            <c:spPr>
              <a:solidFill>
                <a:srgbClr val="7039D0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9"/>
            <c:bubble3D val="0"/>
            <c:spPr>
              <a:solidFill>
                <a:srgbClr val="AD1BBB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0"/>
            <c:bubble3D val="0"/>
            <c:spPr>
              <a:solidFill>
                <a:srgbClr val="B0B0B0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1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1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1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1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1"/>
              <c:showSerName val="0"/>
              <c:showPercent val="0"/>
              <c:showBubbleSize val="0"/>
            </c:dLbl>
            <c:dLbl>
              <c:idx val="5"/>
              <c:numFmt formatCode="General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1"/>
              <c:showSerName val="0"/>
              <c:showPercent val="0"/>
              <c:showBubbleSize val="0"/>
            </c:dLbl>
            <c:dLbl>
              <c:idx val="6"/>
              <c:numFmt formatCode="General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1"/>
              <c:showSerName val="0"/>
              <c:showPercent val="0"/>
              <c:showBubbleSize val="0"/>
            </c:dLbl>
            <c:dLbl>
              <c:idx val="7"/>
              <c:numFmt formatCode="General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1"/>
              <c:showSerName val="0"/>
              <c:showPercent val="0"/>
              <c:showBubbleSize val="0"/>
            </c:dLbl>
            <c:dLbl>
              <c:idx val="8"/>
              <c:numFmt formatCode="General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1"/>
              <c:showSerName val="0"/>
              <c:showPercent val="0"/>
              <c:showBubbleSize val="0"/>
            </c:dLbl>
            <c:dLbl>
              <c:idx val="9"/>
              <c:numFmt formatCode="General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1"/>
              <c:showSerName val="0"/>
              <c:showPercent val="0"/>
              <c:showBubbleSize val="0"/>
            </c:dLbl>
            <c:dLbl>
              <c:idx val="10"/>
              <c:numFmt formatCode="General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1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Sheet1!$A$2:$A$12</c:f>
              <c:strCache>
                <c:ptCount val="11"/>
                <c:pt idx="0">
                  <c:v>ALH(R)
830개</c:v>
                </c:pt>
                <c:pt idx="1">
                  <c:v>TAB(R)
678개</c:v>
                </c:pt>
                <c:pt idx="2">
                  <c:v>TAB(HC)
608개</c:v>
                </c:pt>
                <c:pt idx="3">
                  <c:v>DJUA(R)
594개</c:v>
                </c:pt>
                <c:pt idx="4">
                  <c:v>1881(C)
460개</c:v>
                </c:pt>
                <c:pt idx="5">
                  <c:v>TABFF(PURITOS)
364개</c:v>
                </c:pt>
                <c:pt idx="6">
                  <c:v>ALH(C)
332개</c:v>
                </c:pt>
                <c:pt idx="7">
                  <c:v>DJUA(C)
313개</c:v>
                </c:pt>
                <c:pt idx="8">
                  <c:v>TABE(R)
174개</c:v>
                </c:pt>
                <c:pt idx="9">
                  <c:v>TABFF(CHOCO)
130개</c:v>
                </c:pt>
                <c:pt idx="10">
                  <c:v>기타
922개</c:v>
                </c:pt>
              </c:strCache>
            </c:strRef>
          </c:cat>
          <c:val>
            <c:numRef>
              <c:f>Sheet1!$B$2:$B$12</c:f>
              <c:numCache>
                <c:ptCount val="11"/>
                <c:pt idx="0">
                  <c:v>830</c:v>
                </c:pt>
                <c:pt idx="1">
                  <c:v>678</c:v>
                </c:pt>
                <c:pt idx="2">
                  <c:v>608</c:v>
                </c:pt>
                <c:pt idx="3">
                  <c:v>594</c:v>
                </c:pt>
                <c:pt idx="4">
                  <c:v>460</c:v>
                </c:pt>
                <c:pt idx="5">
                  <c:v>364</c:v>
                </c:pt>
                <c:pt idx="6">
                  <c:v>332</c:v>
                </c:pt>
                <c:pt idx="7">
                  <c:v>313</c:v>
                </c:pt>
                <c:pt idx="8">
                  <c:v>174</c:v>
                </c:pt>
                <c:pt idx="9">
                  <c:v>130</c:v>
                </c:pt>
                <c:pt idx="10">
                  <c:v>922</c:v>
                </c:pt>
              </c:numCache>
            </c:numRef>
          </c:val>
        </c:ser>
        <c:firstSliceAng val="0"/>
        <c:holeSize val="45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3317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데일리시가 브랜드 분석 리포트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22960" y="31546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시가 상품 매출 · 이익 · 판매수량 비중 (전체 기간, 소매+도매 통합)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3657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집계 기간: 2025.07 ~ 2026.07 누적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1371600"/>
            <a:ext cx="502920" cy="50292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4434840"/>
            <a:ext cx="10515600" cy="105156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4590288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매출 1위는 DJUA(R)(13.6%), 이익 1위는 DJUA(R)(14.6%), </a:t>
            </a:r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판매수량 1위는 ALH(R)(15.4%)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입니다. 상위 5개 상품이 전체 매출의 </a:t>
            </a:r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51.7%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차지하며, 전체 평균 마진율은 </a:t>
            </a:r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56.1%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시가상품별 매출금액 비중 (전체)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소매 + 도매 직접판매 + 선물세트 수량 추정치 포함 · 상위 10개 상품 + 기타</a:t>
            </a:r>
            <a:endParaRPr lang="en-US" sz="1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371600"/>
          <a:ext cx="6035040" cy="5120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720840" y="1472184"/>
            <a:ext cx="201168" cy="201168"/>
          </a:xfrm>
          <a:prstGeom prst="rect">
            <a:avLst/>
          </a:prstGeom>
          <a:solidFill>
            <a:srgbClr val="39D054"/>
          </a:solidFill>
          <a:ln/>
        </p:spPr>
      </p:sp>
      <p:sp>
        <p:nvSpPr>
          <p:cNvPr id="6" name="Text 3"/>
          <p:cNvSpPr/>
          <p:nvPr/>
        </p:nvSpPr>
        <p:spPr>
          <a:xfrm>
            <a:off x="7022592" y="1417320"/>
            <a:ext cx="2651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DJUA(R)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9646920" y="1417320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1,566만  (13.6%)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720840" y="1892808"/>
            <a:ext cx="201168" cy="201168"/>
          </a:xfrm>
          <a:prstGeom prst="rect">
            <a:avLst/>
          </a:prstGeom>
          <a:solidFill>
            <a:srgbClr val="C3D039"/>
          </a:solidFill>
          <a:ln/>
        </p:spPr>
      </p:sp>
      <p:sp>
        <p:nvSpPr>
          <p:cNvPr id="9" name="Text 6"/>
          <p:cNvSpPr/>
          <p:nvPr/>
        </p:nvSpPr>
        <p:spPr>
          <a:xfrm>
            <a:off x="7022592" y="1837944"/>
            <a:ext cx="2651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ALH(R)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646920" y="1837944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1,347만  (11.7%)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720840" y="2313432"/>
            <a:ext cx="201168" cy="201168"/>
          </a:xfrm>
          <a:prstGeom prst="rect">
            <a:avLst/>
          </a:prstGeom>
          <a:solidFill>
            <a:srgbClr val="D0398B"/>
          </a:solidFill>
          <a:ln/>
        </p:spPr>
      </p:sp>
      <p:sp>
        <p:nvSpPr>
          <p:cNvPr id="12" name="Text 9"/>
          <p:cNvSpPr/>
          <p:nvPr/>
        </p:nvSpPr>
        <p:spPr>
          <a:xfrm>
            <a:off x="7022592" y="2258568"/>
            <a:ext cx="2651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TABFF(PURITOS)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646920" y="2258568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1,037만  (9%)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720840" y="2734056"/>
            <a:ext cx="201168" cy="201168"/>
          </a:xfrm>
          <a:prstGeom prst="rect">
            <a:avLst/>
          </a:prstGeom>
          <a:solidFill>
            <a:srgbClr val="1B38BB"/>
          </a:solidFill>
          <a:ln/>
        </p:spPr>
      </p:sp>
      <p:sp>
        <p:nvSpPr>
          <p:cNvPr id="15" name="Text 12"/>
          <p:cNvSpPr/>
          <p:nvPr/>
        </p:nvSpPr>
        <p:spPr>
          <a:xfrm>
            <a:off x="7022592" y="2679192"/>
            <a:ext cx="2651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TAB(R)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9646920" y="2679192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1,022만  (8.9%)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6720840" y="3154680"/>
            <a:ext cx="201168" cy="201168"/>
          </a:xfrm>
          <a:prstGeom prst="rect">
            <a:avLst/>
          </a:prstGeom>
          <a:solidFill>
            <a:srgbClr val="D03939"/>
          </a:solidFill>
          <a:ln/>
        </p:spPr>
      </p:sp>
      <p:sp>
        <p:nvSpPr>
          <p:cNvPr id="18" name="Text 15"/>
          <p:cNvSpPr/>
          <p:nvPr/>
        </p:nvSpPr>
        <p:spPr>
          <a:xfrm>
            <a:off x="7022592" y="3099816"/>
            <a:ext cx="2651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1881(C)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9646920" y="3099816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992만  (8.6%)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6720840" y="3575304"/>
            <a:ext cx="201168" cy="201168"/>
          </a:xfrm>
          <a:prstGeom prst="rect">
            <a:avLst/>
          </a:prstGeom>
          <a:solidFill>
            <a:srgbClr val="7039D0"/>
          </a:solidFill>
          <a:ln/>
        </p:spPr>
      </p:sp>
      <p:sp>
        <p:nvSpPr>
          <p:cNvPr id="21" name="Text 18"/>
          <p:cNvSpPr/>
          <p:nvPr/>
        </p:nvSpPr>
        <p:spPr>
          <a:xfrm>
            <a:off x="7022592" y="3520440"/>
            <a:ext cx="2651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TABE(R)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9646920" y="3520440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668만  (5.8%)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6720840" y="3995928"/>
            <a:ext cx="201168" cy="201168"/>
          </a:xfrm>
          <a:prstGeom prst="rect">
            <a:avLst/>
          </a:prstGeom>
          <a:solidFill>
            <a:srgbClr val="55BB1B"/>
          </a:solidFill>
          <a:ln/>
        </p:spPr>
      </p:sp>
      <p:sp>
        <p:nvSpPr>
          <p:cNvPr id="24" name="Text 21"/>
          <p:cNvSpPr/>
          <p:nvPr/>
        </p:nvSpPr>
        <p:spPr>
          <a:xfrm>
            <a:off x="7022592" y="3941064"/>
            <a:ext cx="2651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DJUA(C)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9646920" y="3941064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622만  (5.4%)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6720840" y="4416552"/>
            <a:ext cx="201168" cy="201168"/>
          </a:xfrm>
          <a:prstGeom prst="rect">
            <a:avLst/>
          </a:prstGeom>
          <a:solidFill>
            <a:srgbClr val="BB721B"/>
          </a:solidFill>
          <a:ln/>
        </p:spPr>
      </p:sp>
      <p:sp>
        <p:nvSpPr>
          <p:cNvPr id="27" name="Text 24"/>
          <p:cNvSpPr/>
          <p:nvPr/>
        </p:nvSpPr>
        <p:spPr>
          <a:xfrm>
            <a:off x="7022592" y="4361688"/>
            <a:ext cx="2651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ALH(C)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9646920" y="4361688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509만  (4.4%)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6720840" y="4837176"/>
            <a:ext cx="201168" cy="201168"/>
          </a:xfrm>
          <a:prstGeom prst="rect">
            <a:avLst/>
          </a:prstGeom>
          <a:solidFill>
            <a:srgbClr val="39A7D0"/>
          </a:solidFill>
          <a:ln/>
        </p:spPr>
      </p:sp>
      <p:sp>
        <p:nvSpPr>
          <p:cNvPr id="30" name="Text 27"/>
          <p:cNvSpPr/>
          <p:nvPr/>
        </p:nvSpPr>
        <p:spPr>
          <a:xfrm>
            <a:off x="7022592" y="4782312"/>
            <a:ext cx="2651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TAB(HC)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9646920" y="4782312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361만  (3.1%)</a:t>
            </a:r>
            <a:endParaRPr lang="en-US" sz="1150" dirty="0"/>
          </a:p>
        </p:txBody>
      </p:sp>
      <p:sp>
        <p:nvSpPr>
          <p:cNvPr id="32" name="Shape 29"/>
          <p:cNvSpPr/>
          <p:nvPr/>
        </p:nvSpPr>
        <p:spPr>
          <a:xfrm>
            <a:off x="6720840" y="5257800"/>
            <a:ext cx="201168" cy="201168"/>
          </a:xfrm>
          <a:prstGeom prst="rect">
            <a:avLst/>
          </a:prstGeom>
          <a:solidFill>
            <a:srgbClr val="AD1BBB"/>
          </a:solidFill>
          <a:ln/>
        </p:spPr>
      </p:sp>
      <p:sp>
        <p:nvSpPr>
          <p:cNvPr id="33" name="Text 30"/>
          <p:cNvSpPr/>
          <p:nvPr/>
        </p:nvSpPr>
        <p:spPr>
          <a:xfrm>
            <a:off x="7022592" y="5202936"/>
            <a:ext cx="2651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TABFF(CHOCO)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9646920" y="5202936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340만  (2.9%)</a:t>
            </a:r>
            <a:endParaRPr lang="en-US" sz="1150" dirty="0"/>
          </a:p>
        </p:txBody>
      </p:sp>
      <p:sp>
        <p:nvSpPr>
          <p:cNvPr id="35" name="Shape 32"/>
          <p:cNvSpPr/>
          <p:nvPr/>
        </p:nvSpPr>
        <p:spPr>
          <a:xfrm>
            <a:off x="6720840" y="5678424"/>
            <a:ext cx="201168" cy="201168"/>
          </a:xfrm>
          <a:prstGeom prst="rect">
            <a:avLst/>
          </a:prstGeom>
          <a:solidFill>
            <a:srgbClr val="B0B0B0"/>
          </a:solidFill>
          <a:ln/>
        </p:spPr>
      </p:sp>
      <p:sp>
        <p:nvSpPr>
          <p:cNvPr id="36" name="Text 33"/>
          <p:cNvSpPr/>
          <p:nvPr/>
        </p:nvSpPr>
        <p:spPr>
          <a:xfrm>
            <a:off x="7022592" y="5623560"/>
            <a:ext cx="2651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기타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9646920" y="5623560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3,078만  (26.7%)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시가상품별 이익 비중 (전체)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소매 + 도매 직접판매 + 선물세트 수량 추정치 포함 · 상위 10개 상품 + 기타</a:t>
            </a:r>
            <a:endParaRPr lang="en-US" sz="1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371600"/>
          <a:ext cx="6035040" cy="5120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720840" y="1472184"/>
            <a:ext cx="201168" cy="201168"/>
          </a:xfrm>
          <a:prstGeom prst="rect">
            <a:avLst/>
          </a:prstGeom>
          <a:solidFill>
            <a:srgbClr val="39D054"/>
          </a:solidFill>
          <a:ln/>
        </p:spPr>
      </p:sp>
      <p:sp>
        <p:nvSpPr>
          <p:cNvPr id="6" name="Text 3"/>
          <p:cNvSpPr/>
          <p:nvPr/>
        </p:nvSpPr>
        <p:spPr>
          <a:xfrm>
            <a:off x="7022592" y="1417320"/>
            <a:ext cx="2651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DJUA(R)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9646920" y="1417320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947만  (14.6%)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720840" y="1892808"/>
            <a:ext cx="201168" cy="201168"/>
          </a:xfrm>
          <a:prstGeom prst="rect">
            <a:avLst/>
          </a:prstGeom>
          <a:solidFill>
            <a:srgbClr val="C3D039"/>
          </a:solidFill>
          <a:ln/>
        </p:spPr>
      </p:sp>
      <p:sp>
        <p:nvSpPr>
          <p:cNvPr id="9" name="Text 6"/>
          <p:cNvSpPr/>
          <p:nvPr/>
        </p:nvSpPr>
        <p:spPr>
          <a:xfrm>
            <a:off x="7022592" y="1837944"/>
            <a:ext cx="2651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ALH(R)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646920" y="1837944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711만  (11%)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720840" y="2313432"/>
            <a:ext cx="201168" cy="201168"/>
          </a:xfrm>
          <a:prstGeom prst="rect">
            <a:avLst/>
          </a:prstGeom>
          <a:solidFill>
            <a:srgbClr val="D03939"/>
          </a:solidFill>
          <a:ln/>
        </p:spPr>
      </p:sp>
      <p:sp>
        <p:nvSpPr>
          <p:cNvPr id="12" name="Text 9"/>
          <p:cNvSpPr/>
          <p:nvPr/>
        </p:nvSpPr>
        <p:spPr>
          <a:xfrm>
            <a:off x="7022592" y="2258568"/>
            <a:ext cx="2651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1881(C)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646920" y="2258568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630만  (9.7%)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720840" y="2734056"/>
            <a:ext cx="201168" cy="201168"/>
          </a:xfrm>
          <a:prstGeom prst="rect">
            <a:avLst/>
          </a:prstGeom>
          <a:solidFill>
            <a:srgbClr val="D0398B"/>
          </a:solidFill>
          <a:ln/>
        </p:spPr>
      </p:sp>
      <p:sp>
        <p:nvSpPr>
          <p:cNvPr id="15" name="Text 12"/>
          <p:cNvSpPr/>
          <p:nvPr/>
        </p:nvSpPr>
        <p:spPr>
          <a:xfrm>
            <a:off x="7022592" y="2679192"/>
            <a:ext cx="2651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TABFF(PURITOS)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9646920" y="2679192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522만  (8.1%)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6720840" y="3154680"/>
            <a:ext cx="201168" cy="201168"/>
          </a:xfrm>
          <a:prstGeom prst="rect">
            <a:avLst/>
          </a:prstGeom>
          <a:solidFill>
            <a:srgbClr val="1B38BB"/>
          </a:solidFill>
          <a:ln/>
        </p:spPr>
      </p:sp>
      <p:sp>
        <p:nvSpPr>
          <p:cNvPr id="18" name="Text 15"/>
          <p:cNvSpPr/>
          <p:nvPr/>
        </p:nvSpPr>
        <p:spPr>
          <a:xfrm>
            <a:off x="7022592" y="3099816"/>
            <a:ext cx="2651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TAB(R)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9646920" y="3099816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487만  (7.5%)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6720840" y="3575304"/>
            <a:ext cx="201168" cy="201168"/>
          </a:xfrm>
          <a:prstGeom prst="rect">
            <a:avLst/>
          </a:prstGeom>
          <a:solidFill>
            <a:srgbClr val="7039D0"/>
          </a:solidFill>
          <a:ln/>
        </p:spPr>
      </p:sp>
      <p:sp>
        <p:nvSpPr>
          <p:cNvPr id="21" name="Text 18"/>
          <p:cNvSpPr/>
          <p:nvPr/>
        </p:nvSpPr>
        <p:spPr>
          <a:xfrm>
            <a:off x="7022592" y="3520440"/>
            <a:ext cx="2651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TABE(R)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9646920" y="3520440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433만  (6.7%)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6720840" y="3995928"/>
            <a:ext cx="201168" cy="201168"/>
          </a:xfrm>
          <a:prstGeom prst="rect">
            <a:avLst/>
          </a:prstGeom>
          <a:solidFill>
            <a:srgbClr val="55BB1B"/>
          </a:solidFill>
          <a:ln/>
        </p:spPr>
      </p:sp>
      <p:sp>
        <p:nvSpPr>
          <p:cNvPr id="24" name="Text 21"/>
          <p:cNvSpPr/>
          <p:nvPr/>
        </p:nvSpPr>
        <p:spPr>
          <a:xfrm>
            <a:off x="7022592" y="3941064"/>
            <a:ext cx="2651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DJUA(C)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9646920" y="3941064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371만  (5.7%)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6720840" y="4416552"/>
            <a:ext cx="201168" cy="201168"/>
          </a:xfrm>
          <a:prstGeom prst="rect">
            <a:avLst/>
          </a:prstGeom>
          <a:solidFill>
            <a:srgbClr val="BB721B"/>
          </a:solidFill>
          <a:ln/>
        </p:spPr>
      </p:sp>
      <p:sp>
        <p:nvSpPr>
          <p:cNvPr id="27" name="Text 24"/>
          <p:cNvSpPr/>
          <p:nvPr/>
        </p:nvSpPr>
        <p:spPr>
          <a:xfrm>
            <a:off x="7022592" y="4361688"/>
            <a:ext cx="2651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ALH(C)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9646920" y="4361688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323만  (5%)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6720840" y="4837176"/>
            <a:ext cx="201168" cy="201168"/>
          </a:xfrm>
          <a:prstGeom prst="rect">
            <a:avLst/>
          </a:prstGeom>
          <a:solidFill>
            <a:srgbClr val="1BBB90"/>
          </a:solidFill>
          <a:ln/>
        </p:spPr>
      </p:sp>
      <p:sp>
        <p:nvSpPr>
          <p:cNvPr id="30" name="Text 27"/>
          <p:cNvSpPr/>
          <p:nvPr/>
        </p:nvSpPr>
        <p:spPr>
          <a:xfrm>
            <a:off x="7022592" y="4782312"/>
            <a:ext cx="2651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DJUA(T)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9646920" y="4782312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208만  (3.2%)</a:t>
            </a:r>
            <a:endParaRPr lang="en-US" sz="1150" dirty="0"/>
          </a:p>
        </p:txBody>
      </p:sp>
      <p:sp>
        <p:nvSpPr>
          <p:cNvPr id="32" name="Shape 29"/>
          <p:cNvSpPr/>
          <p:nvPr/>
        </p:nvSpPr>
        <p:spPr>
          <a:xfrm>
            <a:off x="6720840" y="5257800"/>
            <a:ext cx="201168" cy="201168"/>
          </a:xfrm>
          <a:prstGeom prst="rect">
            <a:avLst/>
          </a:prstGeom>
          <a:solidFill>
            <a:srgbClr val="39A7D0"/>
          </a:solidFill>
          <a:ln/>
        </p:spPr>
      </p:sp>
      <p:sp>
        <p:nvSpPr>
          <p:cNvPr id="33" name="Text 30"/>
          <p:cNvSpPr/>
          <p:nvPr/>
        </p:nvSpPr>
        <p:spPr>
          <a:xfrm>
            <a:off x="7022592" y="5202936"/>
            <a:ext cx="2651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TAB(HC)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9646920" y="5202936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183만  (2.8%)</a:t>
            </a:r>
            <a:endParaRPr lang="en-US" sz="1150" dirty="0"/>
          </a:p>
        </p:txBody>
      </p:sp>
      <p:sp>
        <p:nvSpPr>
          <p:cNvPr id="35" name="Shape 32"/>
          <p:cNvSpPr/>
          <p:nvPr/>
        </p:nvSpPr>
        <p:spPr>
          <a:xfrm>
            <a:off x="6720840" y="5678424"/>
            <a:ext cx="201168" cy="201168"/>
          </a:xfrm>
          <a:prstGeom prst="rect">
            <a:avLst/>
          </a:prstGeom>
          <a:solidFill>
            <a:srgbClr val="B0B0B0"/>
          </a:solidFill>
          <a:ln/>
        </p:spPr>
      </p:sp>
      <p:sp>
        <p:nvSpPr>
          <p:cNvPr id="36" name="Text 33"/>
          <p:cNvSpPr/>
          <p:nvPr/>
        </p:nvSpPr>
        <p:spPr>
          <a:xfrm>
            <a:off x="7022592" y="5623560"/>
            <a:ext cx="2651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기타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9646920" y="5623560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1,662만  (25.7%)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시가상품별 판매수량 비중 (전체)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소매 + 도매 직접판매 + 선물세트 수량 포함 · 상위 10개 상품 + 기타</a:t>
            </a:r>
            <a:endParaRPr lang="en-US" sz="1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371600"/>
          <a:ext cx="6035040" cy="5120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720840" y="1472184"/>
            <a:ext cx="201168" cy="201168"/>
          </a:xfrm>
          <a:prstGeom prst="rect">
            <a:avLst/>
          </a:prstGeom>
          <a:solidFill>
            <a:srgbClr val="C3D039"/>
          </a:solidFill>
          <a:ln/>
        </p:spPr>
      </p:sp>
      <p:sp>
        <p:nvSpPr>
          <p:cNvPr id="6" name="Text 3"/>
          <p:cNvSpPr/>
          <p:nvPr/>
        </p:nvSpPr>
        <p:spPr>
          <a:xfrm>
            <a:off x="7022592" y="1417320"/>
            <a:ext cx="2651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ALH(R)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9646920" y="1417320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830개  (15.4%)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720840" y="1892808"/>
            <a:ext cx="201168" cy="201168"/>
          </a:xfrm>
          <a:prstGeom prst="rect">
            <a:avLst/>
          </a:prstGeom>
          <a:solidFill>
            <a:srgbClr val="1B38BB"/>
          </a:solidFill>
          <a:ln/>
        </p:spPr>
      </p:sp>
      <p:sp>
        <p:nvSpPr>
          <p:cNvPr id="9" name="Text 6"/>
          <p:cNvSpPr/>
          <p:nvPr/>
        </p:nvSpPr>
        <p:spPr>
          <a:xfrm>
            <a:off x="7022592" y="1837944"/>
            <a:ext cx="2651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TAB(R)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646920" y="1837944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678개  (12.5%)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720840" y="2313432"/>
            <a:ext cx="201168" cy="201168"/>
          </a:xfrm>
          <a:prstGeom prst="rect">
            <a:avLst/>
          </a:prstGeom>
          <a:solidFill>
            <a:srgbClr val="39A7D0"/>
          </a:solidFill>
          <a:ln/>
        </p:spPr>
      </p:sp>
      <p:sp>
        <p:nvSpPr>
          <p:cNvPr id="12" name="Text 9"/>
          <p:cNvSpPr/>
          <p:nvPr/>
        </p:nvSpPr>
        <p:spPr>
          <a:xfrm>
            <a:off x="7022592" y="2258568"/>
            <a:ext cx="2651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TAB(HC)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646920" y="2258568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608개  (11.2%)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720840" y="2734056"/>
            <a:ext cx="201168" cy="201168"/>
          </a:xfrm>
          <a:prstGeom prst="rect">
            <a:avLst/>
          </a:prstGeom>
          <a:solidFill>
            <a:srgbClr val="39D054"/>
          </a:solidFill>
          <a:ln/>
        </p:spPr>
      </p:sp>
      <p:sp>
        <p:nvSpPr>
          <p:cNvPr id="15" name="Text 12"/>
          <p:cNvSpPr/>
          <p:nvPr/>
        </p:nvSpPr>
        <p:spPr>
          <a:xfrm>
            <a:off x="7022592" y="2679192"/>
            <a:ext cx="2651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DJUA(R)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9646920" y="2679192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594개  (11%)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6720840" y="3154680"/>
            <a:ext cx="201168" cy="201168"/>
          </a:xfrm>
          <a:prstGeom prst="rect">
            <a:avLst/>
          </a:prstGeom>
          <a:solidFill>
            <a:srgbClr val="D03939"/>
          </a:solidFill>
          <a:ln/>
        </p:spPr>
      </p:sp>
      <p:sp>
        <p:nvSpPr>
          <p:cNvPr id="18" name="Text 15"/>
          <p:cNvSpPr/>
          <p:nvPr/>
        </p:nvSpPr>
        <p:spPr>
          <a:xfrm>
            <a:off x="7022592" y="3099816"/>
            <a:ext cx="2651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1881(C)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9646920" y="3099816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460개  (8.5%)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6720840" y="3575304"/>
            <a:ext cx="201168" cy="201168"/>
          </a:xfrm>
          <a:prstGeom prst="rect">
            <a:avLst/>
          </a:prstGeom>
          <a:solidFill>
            <a:srgbClr val="D0398B"/>
          </a:solidFill>
          <a:ln/>
        </p:spPr>
      </p:sp>
      <p:sp>
        <p:nvSpPr>
          <p:cNvPr id="21" name="Text 18"/>
          <p:cNvSpPr/>
          <p:nvPr/>
        </p:nvSpPr>
        <p:spPr>
          <a:xfrm>
            <a:off x="7022592" y="3520440"/>
            <a:ext cx="2651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TABFF(PURITOS)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9646920" y="3520440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364개  (6.7%)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6720840" y="3995928"/>
            <a:ext cx="201168" cy="201168"/>
          </a:xfrm>
          <a:prstGeom prst="rect">
            <a:avLst/>
          </a:prstGeom>
          <a:solidFill>
            <a:srgbClr val="BB721B"/>
          </a:solidFill>
          <a:ln/>
        </p:spPr>
      </p:sp>
      <p:sp>
        <p:nvSpPr>
          <p:cNvPr id="24" name="Text 21"/>
          <p:cNvSpPr/>
          <p:nvPr/>
        </p:nvSpPr>
        <p:spPr>
          <a:xfrm>
            <a:off x="7022592" y="3941064"/>
            <a:ext cx="2651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ALH(C)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9646920" y="3941064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332개  (6.1%)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6720840" y="4416552"/>
            <a:ext cx="201168" cy="201168"/>
          </a:xfrm>
          <a:prstGeom prst="rect">
            <a:avLst/>
          </a:prstGeom>
          <a:solidFill>
            <a:srgbClr val="55BB1B"/>
          </a:solidFill>
          <a:ln/>
        </p:spPr>
      </p:sp>
      <p:sp>
        <p:nvSpPr>
          <p:cNvPr id="27" name="Text 24"/>
          <p:cNvSpPr/>
          <p:nvPr/>
        </p:nvSpPr>
        <p:spPr>
          <a:xfrm>
            <a:off x="7022592" y="4361688"/>
            <a:ext cx="2651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DJUA(C)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9646920" y="4361688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313개  (5.8%)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6720840" y="4837176"/>
            <a:ext cx="201168" cy="201168"/>
          </a:xfrm>
          <a:prstGeom prst="rect">
            <a:avLst/>
          </a:prstGeom>
          <a:solidFill>
            <a:srgbClr val="7039D0"/>
          </a:solidFill>
          <a:ln/>
        </p:spPr>
      </p:sp>
      <p:sp>
        <p:nvSpPr>
          <p:cNvPr id="30" name="Text 27"/>
          <p:cNvSpPr/>
          <p:nvPr/>
        </p:nvSpPr>
        <p:spPr>
          <a:xfrm>
            <a:off x="7022592" y="4782312"/>
            <a:ext cx="2651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TABE(R)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9646920" y="4782312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174개  (3.2%)</a:t>
            </a:r>
            <a:endParaRPr lang="en-US" sz="1150" dirty="0"/>
          </a:p>
        </p:txBody>
      </p:sp>
      <p:sp>
        <p:nvSpPr>
          <p:cNvPr id="32" name="Shape 29"/>
          <p:cNvSpPr/>
          <p:nvPr/>
        </p:nvSpPr>
        <p:spPr>
          <a:xfrm>
            <a:off x="6720840" y="5257800"/>
            <a:ext cx="201168" cy="201168"/>
          </a:xfrm>
          <a:prstGeom prst="rect">
            <a:avLst/>
          </a:prstGeom>
          <a:solidFill>
            <a:srgbClr val="AD1BBB"/>
          </a:solidFill>
          <a:ln/>
        </p:spPr>
      </p:sp>
      <p:sp>
        <p:nvSpPr>
          <p:cNvPr id="33" name="Text 30"/>
          <p:cNvSpPr/>
          <p:nvPr/>
        </p:nvSpPr>
        <p:spPr>
          <a:xfrm>
            <a:off x="7022592" y="5202936"/>
            <a:ext cx="2651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TABFF(CHOCO)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9646920" y="5202936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130개  (2.4%)</a:t>
            </a:r>
            <a:endParaRPr lang="en-US" sz="1150" dirty="0"/>
          </a:p>
        </p:txBody>
      </p:sp>
      <p:sp>
        <p:nvSpPr>
          <p:cNvPr id="35" name="Shape 32"/>
          <p:cNvSpPr/>
          <p:nvPr/>
        </p:nvSpPr>
        <p:spPr>
          <a:xfrm>
            <a:off x="6720840" y="5678424"/>
            <a:ext cx="201168" cy="201168"/>
          </a:xfrm>
          <a:prstGeom prst="rect">
            <a:avLst/>
          </a:prstGeom>
          <a:solidFill>
            <a:srgbClr val="B0B0B0"/>
          </a:solidFill>
          <a:ln/>
        </p:spPr>
      </p:sp>
      <p:sp>
        <p:nvSpPr>
          <p:cNvPr id="36" name="Text 33"/>
          <p:cNvSpPr/>
          <p:nvPr/>
        </p:nvSpPr>
        <p:spPr>
          <a:xfrm>
            <a:off x="7022592" y="5623560"/>
            <a:ext cx="2651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기타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9646920" y="5623560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922개  (17.1%)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2026-07-25T07:35:55Z</dcterms:created>
  <dcterms:modified xsi:type="dcterms:W3CDTF">2026-07-25T07:35:55Z</dcterms:modified>
</cp:coreProperties>
</file>